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80" d="100"/>
          <a:sy n="80" d="100"/>
        </p:scale>
        <p:origin x="514" y="7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9324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2419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5324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603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9261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2257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03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714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2303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96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974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743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388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811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1627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978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50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2738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369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8913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5339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495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7404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228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370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1330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0581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197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586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364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894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587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832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9D2AB-728A-6ED3-7421-CD1614AE5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B8EFF0-4ACA-966C-233E-8E650DAA03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BD5A2-1EF5-6CCB-6AD7-C8FA45DB66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357CEE-FFE6-791C-7520-5AE51EF7AB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3E54BB-5B89-933B-3556-992DFB1665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33A66-0C69-C364-C3EA-283BA27B6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3180AD-B84F-07C0-FB0B-2211579F20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40A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650965" name="Text 0"/>
          <p:cNvSpPr/>
          <p:nvPr/>
        </p:nvSpPr>
        <p:spPr bwMode="auto">
          <a:xfrm>
            <a:off x="1200722" y="1371600"/>
            <a:ext cx="67425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500"/>
              </a:spcAft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Automating Customer List Selection for Communications</a:t>
            </a:r>
            <a:endParaRPr lang="en-US" sz="3600"/>
          </a:p>
        </p:txBody>
      </p:sp>
      <p:sp>
        <p:nvSpPr>
          <p:cNvPr id="977932115" name="Text 1"/>
          <p:cNvSpPr/>
          <p:nvPr/>
        </p:nvSpPr>
        <p:spPr bwMode="auto">
          <a:xfrm>
            <a:off x="1200722" y="2476500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0"/>
              </a:spcAft>
              <a:buNone/>
              <a:defRPr/>
            </a:pPr>
            <a:r>
              <a:rPr lang="en-US"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Using Mathematical Modeling and Machine Learning</a:t>
            </a:r>
            <a:endParaRPr lang="en-US" sz="1500"/>
          </a:p>
        </p:txBody>
      </p:sp>
      <p:sp>
        <p:nvSpPr>
          <p:cNvPr id="863499454" name="Text 2"/>
          <p:cNvSpPr/>
          <p:nvPr/>
        </p:nvSpPr>
        <p:spPr bwMode="auto">
          <a:xfrm>
            <a:off x="1200722" y="3124200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  <a:defRPr/>
            </a:pPr>
            <a:r>
              <a:rPr lang="en-US"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Bank Marketing Campaign Optimization</a:t>
            </a:r>
            <a:endParaRPr lang="en-US" sz="1500"/>
          </a:p>
        </p:txBody>
      </p:sp>
      <p:sp>
        <p:nvSpPr>
          <p:cNvPr id="290368322" name="Text 3"/>
          <p:cNvSpPr/>
          <p:nvPr/>
        </p:nvSpPr>
        <p:spPr bwMode="auto">
          <a:xfrm>
            <a:off x="1200722" y="3467100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/>
            </a:pPr>
            <a:r>
              <a:rPr lang="en-US"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December 2025</a:t>
            </a:r>
            <a:endParaRPr lang="en-US" sz="1500"/>
          </a:p>
        </p:txBody>
      </p:sp>
      <p:sp>
        <p:nvSpPr>
          <p:cNvPr id="1897752828" name="Text 3"/>
          <p:cNvSpPr/>
          <p:nvPr/>
        </p:nvSpPr>
        <p:spPr bwMode="auto">
          <a:xfrm>
            <a:off x="1200722" y="3934392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/>
            </a:pPr>
            <a:r>
              <a:rPr lang="en-US"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Made by: Saiko M., </a:t>
            </a:r>
            <a:r>
              <a:rPr lang="en-US"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Guzevaty</a:t>
            </a:r>
            <a:r>
              <a:rPr lang="en-US"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R.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964054" name="Text 0"/>
          <p:cNvSpPr/>
          <p:nvPr/>
        </p:nvSpPr>
        <p:spPr bwMode="auto"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Project Goal &amp; Objectives</a:t>
            </a:r>
            <a:endParaRPr lang="en-US" sz="2700"/>
          </a:p>
        </p:txBody>
      </p:sp>
      <p:sp>
        <p:nvSpPr>
          <p:cNvPr id="819911992" name="Text 1"/>
          <p:cNvSpPr/>
          <p:nvPr/>
        </p:nvSpPr>
        <p:spPr bwMode="auto">
          <a:xfrm>
            <a:off x="571500" y="9525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900"/>
              </a:spcAft>
              <a:buNone/>
              <a:defRPr/>
            </a:pPr>
            <a:r>
              <a:rPr lang="en-US" sz="18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Goal</a:t>
            </a:r>
            <a:endParaRPr lang="en-US" sz="1800"/>
          </a:p>
        </p:txBody>
      </p:sp>
      <p:sp>
        <p:nvSpPr>
          <p:cNvPr id="1487069796" name="Text 2"/>
          <p:cNvSpPr/>
          <p:nvPr/>
        </p:nvSpPr>
        <p:spPr bwMode="auto">
          <a:xfrm>
            <a:off x="377189" y="1371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Automate and optimize customer lists for communication based on contact history, using machine learning predictive models</a:t>
            </a:r>
            <a:endParaRPr lang="en-US" sz="1200"/>
          </a:p>
        </p:txBody>
      </p:sp>
      <p:sp>
        <p:nvSpPr>
          <p:cNvPr id="1193885745" name="Text 3"/>
          <p:cNvSpPr/>
          <p:nvPr/>
        </p:nvSpPr>
        <p:spPr bwMode="auto">
          <a:xfrm>
            <a:off x="381000" y="1828800"/>
            <a:ext cx="8382000" cy="2457450"/>
          </a:xfrm>
          <a:prstGeom prst="roundRect">
            <a:avLst>
              <a:gd name="adj" fmla="val 3101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496694880" name="Text 5"/>
          <p:cNvSpPr/>
          <p:nvPr/>
        </p:nvSpPr>
        <p:spPr bwMode="auto">
          <a:xfrm>
            <a:off x="609600" y="2019300"/>
            <a:ext cx="40707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  <a:defRPr/>
            </a:pPr>
            <a:r>
              <a:rPr lang="en-US" sz="18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Key Objectives</a:t>
            </a:r>
            <a:endParaRPr lang="en-US" sz="1800"/>
          </a:p>
        </p:txBody>
      </p:sp>
      <p:sp>
        <p:nvSpPr>
          <p:cNvPr id="49668508" name="Text 6"/>
          <p:cNvSpPr/>
          <p:nvPr/>
        </p:nvSpPr>
        <p:spPr bwMode="auto">
          <a:xfrm>
            <a:off x="609600" y="247650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1. Exploratory data analysis and comprehensive data preparation</a:t>
            </a:r>
            <a:endParaRPr lang="en-US" sz="1050"/>
          </a:p>
        </p:txBody>
      </p:sp>
      <p:sp>
        <p:nvSpPr>
          <p:cNvPr id="734120323" name="Text 7"/>
          <p:cNvSpPr/>
          <p:nvPr/>
        </p:nvSpPr>
        <p:spPr bwMode="auto">
          <a:xfrm>
            <a:off x="609600" y="276225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2. Feature engineering: creating transactional and demographic indicators</a:t>
            </a:r>
            <a:endParaRPr lang="en-US" sz="1050"/>
          </a:p>
        </p:txBody>
      </p:sp>
      <p:sp>
        <p:nvSpPr>
          <p:cNvPr id="1361828221" name="Text 8"/>
          <p:cNvSpPr/>
          <p:nvPr/>
        </p:nvSpPr>
        <p:spPr bwMode="auto">
          <a:xfrm>
            <a:off x="609600" y="304800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3. Data preprocessing: handling missing values, outliers, and categorical encoding</a:t>
            </a:r>
            <a:endParaRPr lang="en-US" sz="1050"/>
          </a:p>
        </p:txBody>
      </p:sp>
      <p:sp>
        <p:nvSpPr>
          <p:cNvPr id="693146994" name="Text 9"/>
          <p:cNvSpPr/>
          <p:nvPr/>
        </p:nvSpPr>
        <p:spPr bwMode="auto">
          <a:xfrm>
            <a:off x="609600" y="333375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4. Training and evaluation of </a:t>
            </a:r>
            <a:r>
              <a:rPr lang="ru-RU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6</a:t>
            </a: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 ML models for two target variables</a:t>
            </a:r>
            <a:endParaRPr lang="en-US" sz="1050"/>
          </a:p>
        </p:txBody>
      </p:sp>
      <p:sp>
        <p:nvSpPr>
          <p:cNvPr id="264824358" name="Text 10"/>
          <p:cNvSpPr/>
          <p:nvPr/>
        </p:nvSpPr>
        <p:spPr bwMode="auto">
          <a:xfrm>
            <a:off x="609600" y="361950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5. Feature importance analysis to identify key drivers of customer response</a:t>
            </a:r>
            <a:endParaRPr lang="en-US" sz="1050"/>
          </a:p>
        </p:txBody>
      </p:sp>
      <p:sp>
        <p:nvSpPr>
          <p:cNvPr id="1112123525" name="Text 11"/>
          <p:cNvSpPr/>
          <p:nvPr/>
        </p:nvSpPr>
        <p:spPr bwMode="auto">
          <a:xfrm>
            <a:off x="609600" y="390525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6. Generate predictions for test dataset with optimized models</a:t>
            </a:r>
            <a:endParaRPr lang="en-US" sz="1050"/>
          </a:p>
        </p:txBody>
      </p:sp>
      <p:sp>
        <p:nvSpPr>
          <p:cNvPr id="406706842" name="Text 12"/>
          <p:cNvSpPr/>
          <p:nvPr/>
        </p:nvSpPr>
        <p:spPr bwMode="auto">
          <a:xfrm>
            <a:off x="381000" y="475297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Training set: 985,477 customers | Test set: 63,098 customers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494361" name="Text 0"/>
          <p:cNvSpPr/>
          <p:nvPr/>
        </p:nvSpPr>
        <p:spPr bwMode="auto">
          <a:xfrm>
            <a:off x="381000" y="266700"/>
            <a:ext cx="71214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Data Preprocessing &amp; Feature Engineering</a:t>
            </a:r>
            <a:endParaRPr lang="en-US" sz="2700"/>
          </a:p>
        </p:txBody>
      </p:sp>
      <p:sp>
        <p:nvSpPr>
          <p:cNvPr id="1047789539" name="Text 1"/>
          <p:cNvSpPr/>
          <p:nvPr/>
        </p:nvSpPr>
        <p:spPr bwMode="auto">
          <a:xfrm>
            <a:off x="381000" y="1157288"/>
            <a:ext cx="4114800" cy="1104900"/>
          </a:xfrm>
          <a:prstGeom prst="roundRect">
            <a:avLst>
              <a:gd name="adj" fmla="val 517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44356401" name="Text 3"/>
          <p:cNvSpPr/>
          <p:nvPr/>
        </p:nvSpPr>
        <p:spPr bwMode="auto">
          <a:xfrm>
            <a:off x="542925" y="12906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  <a:defRPr/>
            </a:pPr>
            <a:r>
              <a:rPr lang="en-US" sz="12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Missing Value Handling</a:t>
            </a:r>
            <a:endParaRPr lang="en-US" sz="1200"/>
          </a:p>
        </p:txBody>
      </p:sp>
      <p:sp>
        <p:nvSpPr>
          <p:cNvPr id="1145181483" name="Text 4"/>
          <p:cNvSpPr/>
          <p:nvPr/>
        </p:nvSpPr>
        <p:spPr bwMode="auto">
          <a:xfrm>
            <a:off x="542925" y="15954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Imputed Age &amp; Lifetime with median values</a:t>
            </a:r>
            <a:endParaRPr lang="en-US" sz="900"/>
          </a:p>
        </p:txBody>
      </p:sp>
      <p:sp>
        <p:nvSpPr>
          <p:cNvPr id="61111188" name="Text 5"/>
          <p:cNvSpPr/>
          <p:nvPr/>
        </p:nvSpPr>
        <p:spPr bwMode="auto">
          <a:xfrm>
            <a:off x="542925" y="17859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Created missing indicators (Age_missing, etc.)</a:t>
            </a:r>
            <a:endParaRPr lang="en-US" sz="900"/>
          </a:p>
        </p:txBody>
      </p:sp>
      <p:sp>
        <p:nvSpPr>
          <p:cNvPr id="1814963333" name="Text 6"/>
          <p:cNvSpPr/>
          <p:nvPr/>
        </p:nvSpPr>
        <p:spPr bwMode="auto">
          <a:xfrm>
            <a:off x="542925" y="19764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Binary features filled with mode</a:t>
            </a:r>
            <a:endParaRPr lang="en-US" sz="900"/>
          </a:p>
        </p:txBody>
      </p:sp>
      <p:sp>
        <p:nvSpPr>
          <p:cNvPr id="1223743984" name="Text 7"/>
          <p:cNvSpPr/>
          <p:nvPr/>
        </p:nvSpPr>
        <p:spPr bwMode="auto">
          <a:xfrm>
            <a:off x="381000" y="2376488"/>
            <a:ext cx="4114800" cy="914400"/>
          </a:xfrm>
          <a:prstGeom prst="roundRect">
            <a:avLst>
              <a:gd name="adj" fmla="val 6250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61744111" name="Text 9"/>
          <p:cNvSpPr/>
          <p:nvPr/>
        </p:nvSpPr>
        <p:spPr bwMode="auto">
          <a:xfrm>
            <a:off x="542925" y="25098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  <a:defRPr/>
            </a:pPr>
            <a:r>
              <a:rPr lang="en-US" sz="1200" b="1">
                <a:solidFill>
                  <a:schemeClr val="tx2">
                    <a:lumMod val="75000"/>
                  </a:schemeClr>
                </a:solidFill>
                <a:latin typeface="Segoe UI"/>
                <a:ea typeface="Segoe UI"/>
                <a:cs typeface="Segoe UI"/>
              </a:rPr>
              <a:t>Outlier Treatment</a:t>
            </a:r>
            <a:endParaRPr lang="en-US" sz="12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23176686" name="Text 10"/>
          <p:cNvSpPr/>
          <p:nvPr/>
        </p:nvSpPr>
        <p:spPr bwMode="auto">
          <a:xfrm>
            <a:off x="542925" y="28146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Winsorization at 1st and 99th percentiles</a:t>
            </a:r>
            <a:endParaRPr lang="en-US" sz="900"/>
          </a:p>
        </p:txBody>
      </p:sp>
      <p:sp>
        <p:nvSpPr>
          <p:cNvPr id="1234592419" name="Text 11"/>
          <p:cNvSpPr/>
          <p:nvPr/>
        </p:nvSpPr>
        <p:spPr bwMode="auto">
          <a:xfrm>
            <a:off x="542925" y="30051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Applied to: Age, Lifetime, Income, transaction features</a:t>
            </a:r>
            <a:endParaRPr lang="en-US" sz="900"/>
          </a:p>
        </p:txBody>
      </p:sp>
      <p:sp>
        <p:nvSpPr>
          <p:cNvPr id="934684082" name="Text 12"/>
          <p:cNvSpPr/>
          <p:nvPr/>
        </p:nvSpPr>
        <p:spPr bwMode="auto">
          <a:xfrm>
            <a:off x="381000" y="3405188"/>
            <a:ext cx="4114800" cy="91440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580001496" name="Text 14"/>
          <p:cNvSpPr/>
          <p:nvPr/>
        </p:nvSpPr>
        <p:spPr bwMode="auto">
          <a:xfrm>
            <a:off x="542925" y="35385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  <a:defRPr/>
            </a:pPr>
            <a:r>
              <a:rPr lang="en-US" sz="12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Categorical Encoding</a:t>
            </a:r>
            <a:endParaRPr lang="en-US" sz="1200"/>
          </a:p>
        </p:txBody>
      </p:sp>
      <p:sp>
        <p:nvSpPr>
          <p:cNvPr id="270029151" name="Text 15"/>
          <p:cNvSpPr/>
          <p:nvPr/>
        </p:nvSpPr>
        <p:spPr bwMode="auto">
          <a:xfrm>
            <a:off x="542925" y="38433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Binary mapping: Yes/No → 1/0</a:t>
            </a:r>
            <a:endParaRPr lang="en-US" sz="900"/>
          </a:p>
        </p:txBody>
      </p:sp>
      <p:sp>
        <p:nvSpPr>
          <p:cNvPr id="1557532849" name="Text 16"/>
          <p:cNvSpPr/>
          <p:nvPr/>
        </p:nvSpPr>
        <p:spPr bwMode="auto">
          <a:xfrm>
            <a:off x="542925" y="4033837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One-Hot Encoding: Region, Gender, Segment, Age_group</a:t>
            </a:r>
            <a:endParaRPr lang="en-US" sz="900"/>
          </a:p>
        </p:txBody>
      </p:sp>
      <p:sp>
        <p:nvSpPr>
          <p:cNvPr id="580810962" name="Text 17"/>
          <p:cNvSpPr/>
          <p:nvPr/>
        </p:nvSpPr>
        <p:spPr bwMode="auto">
          <a:xfrm>
            <a:off x="4648200" y="1119188"/>
            <a:ext cx="4114800" cy="1295400"/>
          </a:xfrm>
          <a:prstGeom prst="roundRect">
            <a:avLst>
              <a:gd name="adj" fmla="val 4412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114360172" name="Text 19"/>
          <p:cNvSpPr/>
          <p:nvPr/>
        </p:nvSpPr>
        <p:spPr bwMode="auto">
          <a:xfrm>
            <a:off x="4810125" y="12525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  <a:defRPr/>
            </a:pPr>
            <a:r>
              <a:rPr lang="en-US" sz="1200" b="1">
                <a:solidFill>
                  <a:srgbClr val="5B21B6"/>
                </a:solidFill>
                <a:latin typeface="Segoe UI"/>
                <a:ea typeface="Segoe UI"/>
                <a:cs typeface="Segoe UI"/>
              </a:rPr>
              <a:t>Transaction Features</a:t>
            </a:r>
            <a:endParaRPr lang="en-US" sz="1200"/>
          </a:p>
        </p:txBody>
      </p:sp>
      <p:sp>
        <p:nvSpPr>
          <p:cNvPr id="281820418" name="Text 20"/>
          <p:cNvSpPr/>
          <p:nvPr/>
        </p:nvSpPr>
        <p:spPr bwMode="auto">
          <a:xfrm>
            <a:off x="4810125" y="1557337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trans_mean</a:t>
            </a: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: Average across 6/9/12 months</a:t>
            </a:r>
            <a:endParaRPr lang="en-US" sz="900"/>
          </a:p>
        </p:txBody>
      </p:sp>
      <p:sp>
        <p:nvSpPr>
          <p:cNvPr id="254302892" name="Text 21"/>
          <p:cNvSpPr/>
          <p:nvPr/>
        </p:nvSpPr>
        <p:spPr bwMode="auto">
          <a:xfrm>
            <a:off x="4810125" y="17478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trans_std</a:t>
            </a: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: Transaction variability</a:t>
            </a:r>
            <a:endParaRPr lang="en-US" sz="900"/>
          </a:p>
        </p:txBody>
      </p:sp>
      <p:sp>
        <p:nvSpPr>
          <p:cNvPr id="943834897" name="Text 22"/>
          <p:cNvSpPr/>
          <p:nvPr/>
        </p:nvSpPr>
        <p:spPr bwMode="auto">
          <a:xfrm>
            <a:off x="4810125" y="1938337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trans_9_to_6_ratio</a:t>
            </a: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: Growth rate indicator</a:t>
            </a:r>
            <a:endParaRPr lang="en-US" sz="900"/>
          </a:p>
        </p:txBody>
      </p:sp>
      <p:sp>
        <p:nvSpPr>
          <p:cNvPr id="857599599" name="Text 23"/>
          <p:cNvSpPr/>
          <p:nvPr/>
        </p:nvSpPr>
        <p:spPr bwMode="auto">
          <a:xfrm>
            <a:off x="4810125" y="21288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trans_growth</a:t>
            </a: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: 12-month vs 6-month change</a:t>
            </a:r>
            <a:endParaRPr lang="en-US" sz="900"/>
          </a:p>
        </p:txBody>
      </p:sp>
      <p:sp>
        <p:nvSpPr>
          <p:cNvPr id="2070027858" name="Text 24"/>
          <p:cNvSpPr/>
          <p:nvPr/>
        </p:nvSpPr>
        <p:spPr bwMode="auto">
          <a:xfrm>
            <a:off x="4648200" y="2528888"/>
            <a:ext cx="4114800" cy="91440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007683457" name="Text 26"/>
          <p:cNvSpPr/>
          <p:nvPr/>
        </p:nvSpPr>
        <p:spPr bwMode="auto">
          <a:xfrm>
            <a:off x="4810125" y="26622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  <a:defRPr/>
            </a:pPr>
            <a:r>
              <a:rPr lang="en-US" sz="1200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Demographic Interactions</a:t>
            </a:r>
            <a:endParaRPr lang="en-US" sz="1200"/>
          </a:p>
        </p:txBody>
      </p:sp>
      <p:sp>
        <p:nvSpPr>
          <p:cNvPr id="10382945" name="Text 27"/>
          <p:cNvSpPr/>
          <p:nvPr/>
        </p:nvSpPr>
        <p:spPr bwMode="auto">
          <a:xfrm>
            <a:off x="4810125" y="29670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Age_Income</a:t>
            </a: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: Multiplicative interaction</a:t>
            </a:r>
            <a:endParaRPr lang="en-US" sz="900"/>
          </a:p>
        </p:txBody>
      </p:sp>
      <p:sp>
        <p:nvSpPr>
          <p:cNvPr id="392422388" name="Text 28"/>
          <p:cNvSpPr/>
          <p:nvPr/>
        </p:nvSpPr>
        <p:spPr bwMode="auto">
          <a:xfrm>
            <a:off x="4810125" y="31575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Income_per_Age</a:t>
            </a: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: Normalized income metric</a:t>
            </a:r>
            <a:endParaRPr lang="en-US" sz="900"/>
          </a:p>
        </p:txBody>
      </p:sp>
      <p:sp>
        <p:nvSpPr>
          <p:cNvPr id="1545408086" name="Text 29"/>
          <p:cNvSpPr/>
          <p:nvPr/>
        </p:nvSpPr>
        <p:spPr bwMode="auto">
          <a:xfrm>
            <a:off x="4648200" y="3557588"/>
            <a:ext cx="4114800" cy="800100"/>
          </a:xfrm>
          <a:prstGeom prst="roundRect">
            <a:avLst>
              <a:gd name="adj" fmla="val 714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091352763" name="Text 30"/>
          <p:cNvSpPr/>
          <p:nvPr/>
        </p:nvSpPr>
        <p:spPr bwMode="auto">
          <a:xfrm>
            <a:off x="5719477" y="3690937"/>
            <a:ext cx="19722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4</a:t>
            </a:r>
            <a:r>
              <a:rPr lang="ru-RU" sz="22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2</a:t>
            </a:r>
            <a:r>
              <a:rPr lang="en-US" sz="22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 Features</a:t>
            </a:r>
            <a:endParaRPr lang="en-US" sz="2250"/>
          </a:p>
        </p:txBody>
      </p:sp>
      <p:sp>
        <p:nvSpPr>
          <p:cNvPr id="954191321" name="Text 31"/>
          <p:cNvSpPr/>
          <p:nvPr/>
        </p:nvSpPr>
        <p:spPr bwMode="auto">
          <a:xfrm>
            <a:off x="4743069" y="4071938"/>
            <a:ext cx="3925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Ready for modeling</a:t>
            </a:r>
            <a:endParaRPr lang="en-US" sz="900"/>
          </a:p>
        </p:txBody>
      </p:sp>
      <p:sp>
        <p:nvSpPr>
          <p:cNvPr id="553222985" name="Text 32"/>
          <p:cNvSpPr/>
          <p:nvPr/>
        </p:nvSpPr>
        <p:spPr bwMode="auto">
          <a:xfrm>
            <a:off x="381000" y="475297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All preprocessing automated in improved_clean_data() function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63933" name="Text 0"/>
          <p:cNvSpPr/>
          <p:nvPr/>
        </p:nvSpPr>
        <p:spPr bwMode="auto"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Model Training Strategy</a:t>
            </a:r>
            <a:endParaRPr lang="en-US" sz="2700"/>
          </a:p>
        </p:txBody>
      </p:sp>
      <p:sp>
        <p:nvSpPr>
          <p:cNvPr id="1305895006" name="Text 1"/>
          <p:cNvSpPr/>
          <p:nvPr/>
        </p:nvSpPr>
        <p:spPr bwMode="auto">
          <a:xfrm>
            <a:off x="381000" y="952500"/>
            <a:ext cx="4114800" cy="1562100"/>
          </a:xfrm>
          <a:prstGeom prst="roundRect">
            <a:avLst>
              <a:gd name="adj" fmla="val 487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389204653" name="Text 3"/>
          <p:cNvSpPr/>
          <p:nvPr/>
        </p:nvSpPr>
        <p:spPr bwMode="auto">
          <a:xfrm>
            <a:off x="552450" y="1162050"/>
            <a:ext cx="19333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  <a:defRPr/>
            </a:pPr>
            <a:r>
              <a:rPr lang="en-US" sz="15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Target Variables</a:t>
            </a:r>
            <a:endParaRPr lang="en-US" sz="1500"/>
          </a:p>
        </p:txBody>
      </p:sp>
      <p:sp>
        <p:nvSpPr>
          <p:cNvPr id="1048167797" name="Text 4"/>
          <p:cNvSpPr/>
          <p:nvPr/>
        </p:nvSpPr>
        <p:spPr bwMode="auto">
          <a:xfrm>
            <a:off x="552450" y="154305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Target1: Marketing Response</a:t>
            </a:r>
            <a:endParaRPr lang="en-US" sz="1050"/>
          </a:p>
        </p:txBody>
      </p:sp>
      <p:sp>
        <p:nvSpPr>
          <p:cNvPr id="2144430852" name="Text 5"/>
          <p:cNvSpPr/>
          <p:nvPr/>
        </p:nvSpPr>
        <p:spPr bwMode="auto">
          <a:xfrm>
            <a:off x="552450" y="1752599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24.7% positive class | Email/Phone indicator prediction</a:t>
            </a:r>
            <a:endParaRPr lang="en-US" sz="900"/>
          </a:p>
        </p:txBody>
      </p:sp>
      <p:sp>
        <p:nvSpPr>
          <p:cNvPr id="510447393" name="Text 6"/>
          <p:cNvSpPr/>
          <p:nvPr/>
        </p:nvSpPr>
        <p:spPr bwMode="auto">
          <a:xfrm>
            <a:off x="552450" y="198120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Target2: Secondary Conversion</a:t>
            </a:r>
            <a:endParaRPr lang="en-US" sz="1050"/>
          </a:p>
        </p:txBody>
      </p:sp>
      <p:sp>
        <p:nvSpPr>
          <p:cNvPr id="1887860664" name="Text 7"/>
          <p:cNvSpPr/>
          <p:nvPr/>
        </p:nvSpPr>
        <p:spPr bwMode="auto">
          <a:xfrm>
            <a:off x="552450" y="219075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8.6% positive class | Highly imbalanced</a:t>
            </a:r>
            <a:endParaRPr lang="en-US" sz="900"/>
          </a:p>
        </p:txBody>
      </p:sp>
      <p:sp>
        <p:nvSpPr>
          <p:cNvPr id="612214133" name="Text 8"/>
          <p:cNvSpPr/>
          <p:nvPr/>
        </p:nvSpPr>
        <p:spPr bwMode="auto">
          <a:xfrm>
            <a:off x="4648200" y="1019174"/>
            <a:ext cx="4114800" cy="1428750"/>
          </a:xfrm>
          <a:prstGeom prst="roundRect">
            <a:avLst>
              <a:gd name="adj" fmla="val 5333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29610721" name="Text 10"/>
          <p:cNvSpPr/>
          <p:nvPr/>
        </p:nvSpPr>
        <p:spPr bwMode="auto">
          <a:xfrm>
            <a:off x="4819650" y="1228725"/>
            <a:ext cx="19333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  <a:defRPr/>
            </a:pPr>
            <a:r>
              <a:rPr lang="en-US" sz="1500" b="1">
                <a:solidFill>
                  <a:schemeClr val="tx2">
                    <a:lumMod val="75000"/>
                  </a:schemeClr>
                </a:solidFill>
                <a:latin typeface="Segoe UI"/>
                <a:ea typeface="Segoe UI"/>
                <a:cs typeface="Segoe UI"/>
              </a:rPr>
              <a:t>Data Split</a:t>
            </a:r>
            <a:endParaRPr lang="en-US" sz="15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6247794" name="Text 11"/>
          <p:cNvSpPr/>
          <p:nvPr/>
        </p:nvSpPr>
        <p:spPr bwMode="auto">
          <a:xfrm>
            <a:off x="4819650" y="1609724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Training: 985,477 samples (100%)</a:t>
            </a:r>
            <a:endParaRPr lang="en-US" sz="1050"/>
          </a:p>
        </p:txBody>
      </p:sp>
      <p:sp>
        <p:nvSpPr>
          <p:cNvPr id="143390621" name="Text 12"/>
          <p:cNvSpPr/>
          <p:nvPr/>
        </p:nvSpPr>
        <p:spPr bwMode="auto">
          <a:xfrm>
            <a:off x="4819650" y="18573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(the internal split between training and validation is 80 to 20)</a:t>
            </a:r>
            <a:endParaRPr lang="en-US" sz="1050"/>
          </a:p>
        </p:txBody>
      </p:sp>
      <p:sp>
        <p:nvSpPr>
          <p:cNvPr id="1776656170" name="Text 13"/>
          <p:cNvSpPr/>
          <p:nvPr/>
        </p:nvSpPr>
        <p:spPr bwMode="auto">
          <a:xfrm>
            <a:off x="4819650" y="220154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600"/>
              </a:spcBef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Stratified sampling to preserve class balance</a:t>
            </a:r>
            <a:endParaRPr lang="en-US" sz="900"/>
          </a:p>
        </p:txBody>
      </p:sp>
      <p:sp>
        <p:nvSpPr>
          <p:cNvPr id="372293448" name="Text 14"/>
          <p:cNvSpPr/>
          <p:nvPr/>
        </p:nvSpPr>
        <p:spPr bwMode="auto">
          <a:xfrm>
            <a:off x="381000" y="2705100"/>
            <a:ext cx="8382000" cy="2114550"/>
          </a:xfrm>
          <a:prstGeom prst="roundRect">
            <a:avLst>
              <a:gd name="adj" fmla="val 3604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776134255" name="Text 15"/>
          <p:cNvSpPr/>
          <p:nvPr/>
        </p:nvSpPr>
        <p:spPr bwMode="auto">
          <a:xfrm>
            <a:off x="571500" y="289560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  <a:defRPr/>
            </a:pPr>
            <a:r>
              <a:rPr lang="en-US" sz="15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Algorithm Portfolio</a:t>
            </a:r>
            <a:endParaRPr lang="en-US" sz="1500"/>
          </a:p>
        </p:txBody>
      </p:sp>
      <p:sp>
        <p:nvSpPr>
          <p:cNvPr id="1338877706" name="Text 16"/>
          <p:cNvSpPr/>
          <p:nvPr/>
        </p:nvSpPr>
        <p:spPr bwMode="auto">
          <a:xfrm>
            <a:off x="571500" y="32956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Logistic Regression</a:t>
            </a:r>
            <a:endParaRPr lang="en-US" sz="1050"/>
          </a:p>
        </p:txBody>
      </p:sp>
      <p:sp>
        <p:nvSpPr>
          <p:cNvPr id="244249765" name="Text 17"/>
          <p:cNvSpPr/>
          <p:nvPr/>
        </p:nvSpPr>
        <p:spPr bwMode="auto">
          <a:xfrm>
            <a:off x="571500" y="35242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Baseline linear model with StandardScaler</a:t>
            </a:r>
            <a:endParaRPr lang="en-US" sz="900"/>
          </a:p>
        </p:txBody>
      </p:sp>
      <p:sp>
        <p:nvSpPr>
          <p:cNvPr id="1661768343" name="Text 18"/>
          <p:cNvSpPr/>
          <p:nvPr/>
        </p:nvSpPr>
        <p:spPr bwMode="auto">
          <a:xfrm>
            <a:off x="571500" y="377190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Random Forest</a:t>
            </a:r>
            <a:endParaRPr lang="en-US" sz="1050"/>
          </a:p>
        </p:txBody>
      </p:sp>
      <p:sp>
        <p:nvSpPr>
          <p:cNvPr id="950475412" name="Text 19"/>
          <p:cNvSpPr/>
          <p:nvPr/>
        </p:nvSpPr>
        <p:spPr bwMode="auto">
          <a:xfrm>
            <a:off x="571500" y="400050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Ensemble bagging, 100 estimators</a:t>
            </a:r>
            <a:endParaRPr lang="en-US" sz="900"/>
          </a:p>
        </p:txBody>
      </p:sp>
      <p:sp>
        <p:nvSpPr>
          <p:cNvPr id="1671405461" name="Text 20"/>
          <p:cNvSpPr/>
          <p:nvPr/>
        </p:nvSpPr>
        <p:spPr bwMode="auto">
          <a:xfrm>
            <a:off x="571500" y="42481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XGBoost</a:t>
            </a:r>
            <a:endParaRPr lang="en-US" sz="1050"/>
          </a:p>
        </p:txBody>
      </p:sp>
      <p:sp>
        <p:nvSpPr>
          <p:cNvPr id="1672138223" name="Text 21"/>
          <p:cNvSpPr/>
          <p:nvPr/>
        </p:nvSpPr>
        <p:spPr bwMode="auto">
          <a:xfrm>
            <a:off x="571500" y="44767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Gradient boosting with scale_pos_weight</a:t>
            </a:r>
            <a:endParaRPr lang="en-US" sz="900"/>
          </a:p>
        </p:txBody>
      </p:sp>
      <p:sp>
        <p:nvSpPr>
          <p:cNvPr id="32110976" name="Text 22"/>
          <p:cNvSpPr/>
          <p:nvPr/>
        </p:nvSpPr>
        <p:spPr bwMode="auto">
          <a:xfrm>
            <a:off x="4629150" y="32956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LightGBM</a:t>
            </a:r>
            <a:endParaRPr lang="en-US" sz="1050"/>
          </a:p>
        </p:txBody>
      </p:sp>
      <p:sp>
        <p:nvSpPr>
          <p:cNvPr id="1045501508" name="Text 23"/>
          <p:cNvSpPr/>
          <p:nvPr/>
        </p:nvSpPr>
        <p:spPr bwMode="auto">
          <a:xfrm>
            <a:off x="4629150" y="35242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Fast gradient boosting, auto class weights</a:t>
            </a:r>
            <a:endParaRPr lang="en-US" sz="900"/>
          </a:p>
        </p:txBody>
      </p:sp>
      <p:sp>
        <p:nvSpPr>
          <p:cNvPr id="1053030513" name="Text 24"/>
          <p:cNvSpPr/>
          <p:nvPr/>
        </p:nvSpPr>
        <p:spPr bwMode="auto">
          <a:xfrm>
            <a:off x="4629150" y="377190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Gradient Boosting</a:t>
            </a:r>
            <a:endParaRPr lang="en-US" sz="1050"/>
          </a:p>
        </p:txBody>
      </p:sp>
      <p:sp>
        <p:nvSpPr>
          <p:cNvPr id="1898586546" name="Text 25"/>
          <p:cNvSpPr/>
          <p:nvPr/>
        </p:nvSpPr>
        <p:spPr bwMode="auto">
          <a:xfrm>
            <a:off x="4629150" y="400050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Sklearn ensemble with subsample=0.8</a:t>
            </a:r>
            <a:endParaRPr lang="en-US" sz="900"/>
          </a:p>
        </p:txBody>
      </p:sp>
      <p:sp>
        <p:nvSpPr>
          <p:cNvPr id="540783157" name="Text 26"/>
          <p:cNvSpPr/>
          <p:nvPr/>
        </p:nvSpPr>
        <p:spPr bwMode="auto">
          <a:xfrm>
            <a:off x="4629150" y="42481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  <a:defRPr/>
            </a:pPr>
            <a:r>
              <a:rPr lang="en-US" sz="1050" b="1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CatBoost</a:t>
            </a:r>
            <a:endParaRPr lang="en-US" sz="1050"/>
          </a:p>
        </p:txBody>
      </p:sp>
      <p:sp>
        <p:nvSpPr>
          <p:cNvPr id="992454619" name="Text 27"/>
          <p:cNvSpPr/>
          <p:nvPr/>
        </p:nvSpPr>
        <p:spPr bwMode="auto">
          <a:xfrm>
            <a:off x="4629150" y="44767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Categorical-aware boosting</a:t>
            </a:r>
            <a:endParaRPr lang="en-US" sz="900"/>
          </a:p>
        </p:txBody>
      </p:sp>
      <p:sp>
        <p:nvSpPr>
          <p:cNvPr id="1966531920" name="Text 28"/>
          <p:cNvSpPr/>
          <p:nvPr/>
        </p:nvSpPr>
        <p:spPr bwMode="auto">
          <a:xfrm>
            <a:off x="381000" y="48863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All models use class balancing strategies | Evaluation metrics: ROC-AUC, Accuracy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041565" name="Text 0"/>
          <p:cNvSpPr/>
          <p:nvPr/>
        </p:nvSpPr>
        <p:spPr bwMode="auto">
          <a:xfrm>
            <a:off x="381000" y="266700"/>
            <a:ext cx="62373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Target1 Results: Marketing Response</a:t>
            </a:r>
            <a:endParaRPr lang="en-US" sz="2700"/>
          </a:p>
        </p:txBody>
      </p:sp>
      <p:pic>
        <p:nvPicPr>
          <p:cNvPr id="506257441" name="Image 0" descr="/tmp/rasterized-gradient-662797dc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1000" y="723900"/>
            <a:ext cx="3048000" cy="990600"/>
          </a:xfrm>
          <a:prstGeom prst="rect">
            <a:avLst/>
          </a:prstGeom>
        </p:spPr>
      </p:pic>
      <p:sp>
        <p:nvSpPr>
          <p:cNvPr id="1883996374" name="Text 1"/>
          <p:cNvSpPr/>
          <p:nvPr/>
        </p:nvSpPr>
        <p:spPr bwMode="auto">
          <a:xfrm>
            <a:off x="544830" y="9144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Best Model</a:t>
            </a:r>
            <a:endParaRPr lang="en-US" sz="1050"/>
          </a:p>
        </p:txBody>
      </p:sp>
      <p:sp>
        <p:nvSpPr>
          <p:cNvPr id="197381104" name="Text 2"/>
          <p:cNvSpPr/>
          <p:nvPr/>
        </p:nvSpPr>
        <p:spPr bwMode="auto">
          <a:xfrm>
            <a:off x="635174" y="1181099"/>
            <a:ext cx="2539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Gradient Boosting</a:t>
            </a:r>
            <a:endParaRPr lang="en-US" sz="2250"/>
          </a:p>
        </p:txBody>
      </p:sp>
      <p:sp>
        <p:nvSpPr>
          <p:cNvPr id="106830110" name="Text 3"/>
          <p:cNvSpPr/>
          <p:nvPr/>
        </p:nvSpPr>
        <p:spPr bwMode="auto">
          <a:xfrm>
            <a:off x="381000" y="1971675"/>
            <a:ext cx="3048000" cy="83820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082624412" name="Text 5"/>
          <p:cNvSpPr/>
          <p:nvPr/>
        </p:nvSpPr>
        <p:spPr bwMode="auto">
          <a:xfrm>
            <a:off x="571500" y="212407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ROC-AUC Score</a:t>
            </a:r>
            <a:endParaRPr lang="en-US" sz="900"/>
          </a:p>
        </p:txBody>
      </p:sp>
      <p:sp>
        <p:nvSpPr>
          <p:cNvPr id="1001734153" name="Text 6"/>
          <p:cNvSpPr/>
          <p:nvPr/>
        </p:nvSpPr>
        <p:spPr bwMode="auto">
          <a:xfrm>
            <a:off x="571500" y="231457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0.9373 AUC</a:t>
            </a:r>
            <a:endParaRPr lang="en-US" sz="2250"/>
          </a:p>
        </p:txBody>
      </p:sp>
      <p:sp>
        <p:nvSpPr>
          <p:cNvPr id="1047830633" name="Text 7"/>
          <p:cNvSpPr/>
          <p:nvPr/>
        </p:nvSpPr>
        <p:spPr bwMode="auto">
          <a:xfrm>
            <a:off x="381000" y="3076574"/>
            <a:ext cx="30480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690704436" name="Text 9"/>
          <p:cNvSpPr/>
          <p:nvPr/>
        </p:nvSpPr>
        <p:spPr bwMode="auto">
          <a:xfrm>
            <a:off x="571500" y="322897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Accuracy</a:t>
            </a:r>
            <a:endParaRPr lang="en-US" sz="900"/>
          </a:p>
        </p:txBody>
      </p:sp>
      <p:sp>
        <p:nvSpPr>
          <p:cNvPr id="1208804309" name="Text 10"/>
          <p:cNvSpPr/>
          <p:nvPr/>
        </p:nvSpPr>
        <p:spPr bwMode="auto">
          <a:xfrm>
            <a:off x="571500" y="341947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90.52%</a:t>
            </a:r>
            <a:endParaRPr lang="en-US" sz="2250"/>
          </a:p>
        </p:txBody>
      </p:sp>
      <p:sp>
        <p:nvSpPr>
          <p:cNvPr id="1872190657" name="Text 11"/>
          <p:cNvSpPr/>
          <p:nvPr/>
        </p:nvSpPr>
        <p:spPr bwMode="auto">
          <a:xfrm>
            <a:off x="381000" y="4181475"/>
            <a:ext cx="3048000" cy="571500"/>
          </a:xfrm>
          <a:prstGeom prst="roundRect">
            <a:avLst>
              <a:gd name="adj" fmla="val 10000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69370736" name="Text 12"/>
          <p:cNvSpPr/>
          <p:nvPr/>
        </p:nvSpPr>
        <p:spPr bwMode="auto">
          <a:xfrm>
            <a:off x="495300" y="429577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chemeClr val="tx2">
                    <a:lumMod val="75000"/>
                  </a:schemeClr>
                </a:solidFill>
                <a:latin typeface="Segoe UI"/>
                <a:ea typeface="Segoe UI"/>
                <a:cs typeface="Segoe UI"/>
              </a:rPr>
              <a:t>Overfitting detected</a:t>
            </a:r>
            <a:endParaRPr lang="en-US" sz="9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10841214" name="Text 13"/>
          <p:cNvSpPr/>
          <p:nvPr/>
        </p:nvSpPr>
        <p:spPr bwMode="auto">
          <a:xfrm>
            <a:off x="495300" y="448627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Train-val gap: -0.0001 gap</a:t>
            </a:r>
            <a:endParaRPr lang="en-US" sz="900"/>
          </a:p>
        </p:txBody>
      </p:sp>
      <p:pic>
        <p:nvPicPr>
          <p:cNvPr id="1776386206" name="Picture 1"/>
          <p:cNvPicPr>
            <a:picLocks noChangeAspect="1" noChangeArrowheads="1"/>
          </p:cNvPicPr>
          <p:nvPr/>
        </p:nvPicPr>
        <p:blipFill>
          <a:blip r:embed="rId4"/>
          <a:srcRect l="0" t="5419" r="49881" b="0"/>
          <a:stretch/>
        </p:blipFill>
        <p:spPr bwMode="auto">
          <a:xfrm>
            <a:off x="3519344" y="742949"/>
            <a:ext cx="5411296" cy="399112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712404" name="Text 0"/>
          <p:cNvSpPr/>
          <p:nvPr/>
        </p:nvSpPr>
        <p:spPr bwMode="auto">
          <a:xfrm>
            <a:off x="381000" y="266700"/>
            <a:ext cx="66259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Target2 Results: Secondary Conversion</a:t>
            </a:r>
            <a:endParaRPr lang="en-US" sz="2700"/>
          </a:p>
        </p:txBody>
      </p:sp>
      <p:pic>
        <p:nvPicPr>
          <p:cNvPr id="1800228170" name="Image 0" descr="/tmp/rasterized-gradient-75546acc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1000" y="762000"/>
            <a:ext cx="3048000" cy="990600"/>
          </a:xfrm>
          <a:prstGeom prst="rect">
            <a:avLst/>
          </a:prstGeom>
        </p:spPr>
      </p:pic>
      <p:sp>
        <p:nvSpPr>
          <p:cNvPr id="2051716067" name="Text 1"/>
          <p:cNvSpPr/>
          <p:nvPr/>
        </p:nvSpPr>
        <p:spPr bwMode="auto">
          <a:xfrm>
            <a:off x="544830" y="9525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Best Model</a:t>
            </a:r>
            <a:endParaRPr lang="en-US" sz="1050"/>
          </a:p>
        </p:txBody>
      </p:sp>
      <p:sp>
        <p:nvSpPr>
          <p:cNvPr id="483431160" name="Text 2"/>
          <p:cNvSpPr/>
          <p:nvPr/>
        </p:nvSpPr>
        <p:spPr bwMode="auto">
          <a:xfrm>
            <a:off x="665908" y="1238250"/>
            <a:ext cx="24781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Gradient Boosting</a:t>
            </a:r>
            <a:endParaRPr lang="en-US" sz="2250"/>
          </a:p>
        </p:txBody>
      </p:sp>
      <p:sp>
        <p:nvSpPr>
          <p:cNvPr id="1335574894" name="Text 3"/>
          <p:cNvSpPr/>
          <p:nvPr/>
        </p:nvSpPr>
        <p:spPr bwMode="auto">
          <a:xfrm>
            <a:off x="381000" y="1876425"/>
            <a:ext cx="3048000" cy="102870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084767609" name="Text 5"/>
          <p:cNvSpPr/>
          <p:nvPr/>
        </p:nvSpPr>
        <p:spPr bwMode="auto">
          <a:xfrm>
            <a:off x="571500" y="202882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ROC-AUC Score</a:t>
            </a:r>
            <a:endParaRPr lang="en-US" sz="900"/>
          </a:p>
        </p:txBody>
      </p:sp>
      <p:sp>
        <p:nvSpPr>
          <p:cNvPr id="1567023213" name="Text 6"/>
          <p:cNvSpPr/>
          <p:nvPr/>
        </p:nvSpPr>
        <p:spPr bwMode="auto">
          <a:xfrm>
            <a:off x="571500" y="221932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0.980 AUC</a:t>
            </a:r>
            <a:endParaRPr lang="en-US" sz="2250"/>
          </a:p>
        </p:txBody>
      </p:sp>
      <p:sp>
        <p:nvSpPr>
          <p:cNvPr id="126331436" name="Text 7"/>
          <p:cNvSpPr/>
          <p:nvPr/>
        </p:nvSpPr>
        <p:spPr bwMode="auto">
          <a:xfrm>
            <a:off x="571500" y="260032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  <a:defRPr/>
            </a:pPr>
            <a:r>
              <a:rPr lang="en-US" sz="9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Outstanding discrimination</a:t>
            </a:r>
            <a:endParaRPr lang="en-US" sz="900"/>
          </a:p>
        </p:txBody>
      </p:sp>
      <p:sp>
        <p:nvSpPr>
          <p:cNvPr id="1367387797" name="Text 8"/>
          <p:cNvSpPr/>
          <p:nvPr/>
        </p:nvSpPr>
        <p:spPr bwMode="auto">
          <a:xfrm>
            <a:off x="381000" y="3171825"/>
            <a:ext cx="30480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675107747" name="Text 10"/>
          <p:cNvSpPr/>
          <p:nvPr/>
        </p:nvSpPr>
        <p:spPr bwMode="auto">
          <a:xfrm>
            <a:off x="571500" y="332422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Accuracy</a:t>
            </a:r>
            <a:endParaRPr lang="en-US" sz="900"/>
          </a:p>
        </p:txBody>
      </p:sp>
      <p:sp>
        <p:nvSpPr>
          <p:cNvPr id="1309842045" name="Text 11"/>
          <p:cNvSpPr/>
          <p:nvPr/>
        </p:nvSpPr>
        <p:spPr bwMode="auto">
          <a:xfrm>
            <a:off x="571500" y="351472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97%</a:t>
            </a:r>
            <a:endParaRPr lang="en-US" sz="2250"/>
          </a:p>
        </p:txBody>
      </p:sp>
      <p:sp>
        <p:nvSpPr>
          <p:cNvPr id="1106429491" name="Text 12"/>
          <p:cNvSpPr/>
          <p:nvPr/>
        </p:nvSpPr>
        <p:spPr bwMode="auto">
          <a:xfrm>
            <a:off x="381000" y="4276725"/>
            <a:ext cx="3048000" cy="5715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649613627" name="Text 13"/>
          <p:cNvSpPr/>
          <p:nvPr/>
        </p:nvSpPr>
        <p:spPr bwMode="auto">
          <a:xfrm>
            <a:off x="495300" y="439102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Highly Imbalanced</a:t>
            </a:r>
            <a:endParaRPr lang="en-US" sz="900"/>
          </a:p>
        </p:txBody>
      </p:sp>
      <p:sp>
        <p:nvSpPr>
          <p:cNvPr id="951427643" name="Text 14"/>
          <p:cNvSpPr/>
          <p:nvPr/>
        </p:nvSpPr>
        <p:spPr bwMode="auto">
          <a:xfrm>
            <a:off x="495300" y="458152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Only 8.6% positive class</a:t>
            </a:r>
            <a:endParaRPr lang="en-US" sz="900"/>
          </a:p>
        </p:txBody>
      </p:sp>
      <p:pic>
        <p:nvPicPr>
          <p:cNvPr id="99581429" name="Picture 1"/>
          <p:cNvPicPr>
            <a:picLocks noChangeAspect="1" noChangeArrowheads="1"/>
          </p:cNvPicPr>
          <p:nvPr/>
        </p:nvPicPr>
        <p:blipFill>
          <a:blip r:embed="rId4"/>
          <a:srcRect l="50642" t="9778" r="0" b="0"/>
          <a:stretch/>
        </p:blipFill>
        <p:spPr bwMode="auto">
          <a:xfrm>
            <a:off x="3817650" y="757600"/>
            <a:ext cx="5352600" cy="38239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013288" name="Text 0"/>
          <p:cNvSpPr/>
          <p:nvPr/>
        </p:nvSpPr>
        <p:spPr bwMode="auto">
          <a:xfrm>
            <a:off x="381000" y="266700"/>
            <a:ext cx="47703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Feature Importance Analysis</a:t>
            </a:r>
            <a:endParaRPr lang="en-US" sz="2700"/>
          </a:p>
        </p:txBody>
      </p:sp>
      <p:sp>
        <p:nvSpPr>
          <p:cNvPr id="216293099" name="Text 3"/>
          <p:cNvSpPr/>
          <p:nvPr/>
        </p:nvSpPr>
        <p:spPr bwMode="auto">
          <a:xfrm>
            <a:off x="381000" y="475297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Key insight: Transaction recency (amont_day_from) and frequency (trans_3_month) are the strongest predictors</a:t>
            </a:r>
            <a:endParaRPr lang="en-US" sz="900"/>
          </a:p>
        </p:txBody>
      </p:sp>
      <p:pic>
        <p:nvPicPr>
          <p:cNvPr id="2080543871" name="Picture 1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00100" y="763330"/>
            <a:ext cx="6119446" cy="36168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150328" name="Text 0"/>
          <p:cNvSpPr/>
          <p:nvPr/>
        </p:nvSpPr>
        <p:spPr bwMode="auto"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Top Predictive Features</a:t>
            </a:r>
            <a:endParaRPr lang="en-US" sz="2700"/>
          </a:p>
        </p:txBody>
      </p:sp>
      <p:pic>
        <p:nvPicPr>
          <p:cNvPr id="1717639049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690928" y="647700"/>
            <a:ext cx="5268167" cy="4352081"/>
          </a:xfrm>
          <a:prstGeom prst="rect">
            <a:avLst/>
          </a:prstGeom>
          <a:noFill/>
        </p:spPr>
      </p:pic>
      <p:pic>
        <p:nvPicPr>
          <p:cNvPr id="851240547" name="Рисунок 46" descr="Изображение выглядит как текст, снимок экрана, меню, Шриф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81000" y="638816"/>
            <a:ext cx="1981791" cy="42379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752650" name="Text 0"/>
          <p:cNvSpPr/>
          <p:nvPr/>
        </p:nvSpPr>
        <p:spPr bwMode="auto"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Test Set Predictions</a:t>
            </a:r>
            <a:endParaRPr lang="en-US" sz="2700"/>
          </a:p>
        </p:txBody>
      </p:sp>
      <p:pic>
        <p:nvPicPr>
          <p:cNvPr id="392523220" name="Image 0" descr="/tmp/rasterized-gradient-a988aeea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1000" y="647700"/>
            <a:ext cx="4095750" cy="17525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70692620" name="Text 1"/>
          <p:cNvSpPr/>
          <p:nvPr/>
        </p:nvSpPr>
        <p:spPr bwMode="auto">
          <a:xfrm>
            <a:off x="573215" y="876299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Target1 Threshold:</a:t>
            </a:r>
            <a:endParaRPr lang="en-US" sz="1050"/>
          </a:p>
        </p:txBody>
      </p:sp>
      <p:sp>
        <p:nvSpPr>
          <p:cNvPr id="1872610298" name="Text 2"/>
          <p:cNvSpPr/>
          <p:nvPr/>
        </p:nvSpPr>
        <p:spPr bwMode="auto">
          <a:xfrm>
            <a:off x="1496187" y="11430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900"/>
              </a:spcAft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20.25%</a:t>
            </a:r>
            <a:endParaRPr lang="en-US" sz="3600"/>
          </a:p>
        </p:txBody>
      </p:sp>
      <p:sp>
        <p:nvSpPr>
          <p:cNvPr id="5712100" name="Text 3"/>
          <p:cNvSpPr/>
          <p:nvPr/>
        </p:nvSpPr>
        <p:spPr bwMode="auto">
          <a:xfrm>
            <a:off x="1673209" y="1714500"/>
            <a:ext cx="583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Yes</a:t>
            </a:r>
            <a:endParaRPr lang="en-US" sz="900"/>
          </a:p>
        </p:txBody>
      </p:sp>
      <p:sp>
        <p:nvSpPr>
          <p:cNvPr id="2081067843" name="Text 4"/>
          <p:cNvSpPr/>
          <p:nvPr/>
        </p:nvSpPr>
        <p:spPr bwMode="auto">
          <a:xfrm>
            <a:off x="1608388" y="1809750"/>
            <a:ext cx="713177" cy="2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15780 </a:t>
            </a:r>
            <a:endParaRPr lang="en-US" sz="1800"/>
          </a:p>
        </p:txBody>
      </p:sp>
      <p:sp>
        <p:nvSpPr>
          <p:cNvPr id="978692131" name="Text 5"/>
          <p:cNvSpPr/>
          <p:nvPr/>
        </p:nvSpPr>
        <p:spPr bwMode="auto">
          <a:xfrm>
            <a:off x="2472633" y="2095499"/>
            <a:ext cx="713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</a:t>
            </a:r>
            <a:endParaRPr lang="en-US" sz="900"/>
          </a:p>
        </p:txBody>
      </p:sp>
      <p:sp>
        <p:nvSpPr>
          <p:cNvPr id="1755251881" name="Text 6"/>
          <p:cNvSpPr/>
          <p:nvPr/>
        </p:nvSpPr>
        <p:spPr bwMode="auto">
          <a:xfrm>
            <a:off x="2468776" y="1809750"/>
            <a:ext cx="717034" cy="2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47318</a:t>
            </a:r>
            <a:endParaRPr lang="en-US" sz="1800"/>
          </a:p>
        </p:txBody>
      </p:sp>
      <p:pic>
        <p:nvPicPr>
          <p:cNvPr id="1510793146" name="Image 1" descr="/tmp/rasterized-gradient-267cf36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812748" y="619125"/>
            <a:ext cx="4095750" cy="1752599"/>
          </a:xfrm>
          <a:prstGeom prst="rect">
            <a:avLst/>
          </a:prstGeom>
        </p:spPr>
      </p:pic>
      <p:sp>
        <p:nvSpPr>
          <p:cNvPr id="1059924685" name="Text 7"/>
          <p:cNvSpPr/>
          <p:nvPr/>
        </p:nvSpPr>
        <p:spPr bwMode="auto">
          <a:xfrm>
            <a:off x="5004963" y="847725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Target2 Predictions</a:t>
            </a:r>
            <a:endParaRPr lang="en-US" sz="1050"/>
          </a:p>
        </p:txBody>
      </p:sp>
      <p:sp>
        <p:nvSpPr>
          <p:cNvPr id="347551053" name="Text 8"/>
          <p:cNvSpPr/>
          <p:nvPr/>
        </p:nvSpPr>
        <p:spPr bwMode="auto">
          <a:xfrm>
            <a:off x="5927935" y="1114425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900"/>
              </a:spcAft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0.7%</a:t>
            </a:r>
            <a:endParaRPr lang="en-US" sz="3600"/>
          </a:p>
        </p:txBody>
      </p:sp>
      <p:sp>
        <p:nvSpPr>
          <p:cNvPr id="92699827" name="Text 9"/>
          <p:cNvSpPr/>
          <p:nvPr/>
        </p:nvSpPr>
        <p:spPr bwMode="auto">
          <a:xfrm flipH="0" flipV="0">
            <a:off x="6301545" y="1685925"/>
            <a:ext cx="301380" cy="1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Yes</a:t>
            </a:r>
            <a:endParaRPr lang="en-US" sz="900"/>
          </a:p>
        </p:txBody>
      </p:sp>
      <p:sp>
        <p:nvSpPr>
          <p:cNvPr id="1040969554" name="Text 10"/>
          <p:cNvSpPr/>
          <p:nvPr/>
        </p:nvSpPr>
        <p:spPr bwMode="auto">
          <a:xfrm>
            <a:off x="6040062" y="1833562"/>
            <a:ext cx="713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5852</a:t>
            </a:r>
            <a:endParaRPr lang="en-US" sz="1800"/>
          </a:p>
        </p:txBody>
      </p:sp>
      <p:sp>
        <p:nvSpPr>
          <p:cNvPr id="969821252" name="Text 11"/>
          <p:cNvSpPr/>
          <p:nvPr/>
        </p:nvSpPr>
        <p:spPr bwMode="auto">
          <a:xfrm>
            <a:off x="6711500" y="1685925"/>
            <a:ext cx="713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</a:t>
            </a:r>
            <a:endParaRPr lang="en-US" sz="900"/>
          </a:p>
        </p:txBody>
      </p:sp>
      <p:sp>
        <p:nvSpPr>
          <p:cNvPr id="1017502114" name="Text 12"/>
          <p:cNvSpPr/>
          <p:nvPr/>
        </p:nvSpPr>
        <p:spPr bwMode="auto">
          <a:xfrm>
            <a:off x="6711500" y="1843659"/>
            <a:ext cx="7131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57246</a:t>
            </a:r>
            <a:endParaRPr lang="en-US" sz="1800"/>
          </a:p>
        </p:txBody>
      </p:sp>
      <p:sp>
        <p:nvSpPr>
          <p:cNvPr id="1352454774" name="Text 4"/>
          <p:cNvSpPr/>
          <p:nvPr/>
        </p:nvSpPr>
        <p:spPr bwMode="auto">
          <a:xfrm>
            <a:off x="1604532" y="2024633"/>
            <a:ext cx="713177" cy="347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25.0%</a:t>
            </a:r>
            <a:endParaRPr lang="en-US" sz="1800"/>
          </a:p>
        </p:txBody>
      </p:sp>
      <p:sp>
        <p:nvSpPr>
          <p:cNvPr id="18331708" name="Text 10"/>
          <p:cNvSpPr/>
          <p:nvPr/>
        </p:nvSpPr>
        <p:spPr bwMode="auto">
          <a:xfrm>
            <a:off x="6050282" y="2071687"/>
            <a:ext cx="713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9.3%</a:t>
            </a:r>
            <a:endParaRPr lang="en-US" sz="1800"/>
          </a:p>
        </p:txBody>
      </p:sp>
      <p:pic>
        <p:nvPicPr>
          <p:cNvPr id="1223202980" name="Picture 1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1047965" y="2409825"/>
            <a:ext cx="7235142" cy="267658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066534" name="Text 0"/>
          <p:cNvSpPr/>
          <p:nvPr/>
        </p:nvSpPr>
        <p:spPr bwMode="auto">
          <a:xfrm>
            <a:off x="381000" y="266700"/>
            <a:ext cx="53629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Code Implementation Highlights</a:t>
            </a:r>
            <a:endParaRPr lang="en-US" sz="2700"/>
          </a:p>
        </p:txBody>
      </p:sp>
      <p:sp>
        <p:nvSpPr>
          <p:cNvPr id="501611823" name="Text 1"/>
          <p:cNvSpPr/>
          <p:nvPr/>
        </p:nvSpPr>
        <p:spPr bwMode="auto">
          <a:xfrm>
            <a:off x="381000" y="952500"/>
            <a:ext cx="83820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513020187" name="Text 3"/>
          <p:cNvSpPr/>
          <p:nvPr/>
        </p:nvSpPr>
        <p:spPr bwMode="auto">
          <a:xfrm>
            <a:off x="571500" y="110490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  <a:defRPr/>
            </a:pPr>
            <a:r>
              <a:rPr lang="en-US" sz="13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Automated Data Pipeline</a:t>
            </a:r>
            <a:endParaRPr lang="en-US" sz="1350"/>
          </a:p>
        </p:txBody>
      </p:sp>
      <p:sp>
        <p:nvSpPr>
          <p:cNvPr id="1051724766" name="Text 4"/>
          <p:cNvSpPr/>
          <p:nvPr/>
        </p:nvSpPr>
        <p:spPr bwMode="auto">
          <a:xfrm>
            <a:off x="571500" y="14478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improved_clean_data() handles all preprocessing | Separate train/test processing with feature alignment</a:t>
            </a:r>
            <a:endParaRPr lang="en-US" sz="1050"/>
          </a:p>
        </p:txBody>
      </p:sp>
      <p:sp>
        <p:nvSpPr>
          <p:cNvPr id="1159473900" name="Text 5"/>
          <p:cNvSpPr/>
          <p:nvPr/>
        </p:nvSpPr>
        <p:spPr bwMode="auto">
          <a:xfrm>
            <a:off x="381000" y="1924050"/>
            <a:ext cx="8382000" cy="838200"/>
          </a:xfrm>
          <a:prstGeom prst="roundRect">
            <a:avLst>
              <a:gd name="adj" fmla="val 9091"/>
            </a:avLst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684217238" name="Text 7"/>
          <p:cNvSpPr/>
          <p:nvPr/>
        </p:nvSpPr>
        <p:spPr bwMode="auto">
          <a:xfrm>
            <a:off x="571500" y="207645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  <a:defRPr/>
            </a:pPr>
            <a:r>
              <a:rPr lang="en-US" sz="1350" b="1">
                <a:solidFill>
                  <a:schemeClr val="tx2">
                    <a:lumMod val="75000"/>
                  </a:schemeClr>
                </a:solidFill>
                <a:latin typeface="Segoe UI"/>
                <a:ea typeface="Segoe UI"/>
                <a:cs typeface="Segoe UI"/>
              </a:rPr>
              <a:t>Model Training &amp; Evaluation</a:t>
            </a:r>
            <a:endParaRPr lang="en-US" sz="135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72242787" name="Text 8"/>
          <p:cNvSpPr/>
          <p:nvPr/>
        </p:nvSpPr>
        <p:spPr bwMode="auto">
          <a:xfrm>
            <a:off x="571500" y="241935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train_and_evaluate_models() trains 6 algorithms | Automatic hyperparameters and overfitting detection</a:t>
            </a:r>
            <a:endParaRPr lang="en-US" sz="1050"/>
          </a:p>
        </p:txBody>
      </p:sp>
      <p:sp>
        <p:nvSpPr>
          <p:cNvPr id="1475602894" name="Text 9"/>
          <p:cNvSpPr/>
          <p:nvPr/>
        </p:nvSpPr>
        <p:spPr bwMode="auto">
          <a:xfrm>
            <a:off x="381000" y="2895600"/>
            <a:ext cx="8382000" cy="83820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880651767" name="Text 11"/>
          <p:cNvSpPr/>
          <p:nvPr/>
        </p:nvSpPr>
        <p:spPr bwMode="auto">
          <a:xfrm>
            <a:off x="571500" y="304800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  <a:defRPr/>
            </a:pPr>
            <a:r>
              <a:rPr lang="en-US" sz="135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Class Imbalance Strategies</a:t>
            </a:r>
            <a:endParaRPr lang="en-US" sz="1350"/>
          </a:p>
        </p:txBody>
      </p:sp>
      <p:sp>
        <p:nvSpPr>
          <p:cNvPr id="16280573" name="Text 12"/>
          <p:cNvSpPr/>
          <p:nvPr/>
        </p:nvSpPr>
        <p:spPr bwMode="auto">
          <a:xfrm>
            <a:off x="571500" y="33909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class_weight='balanced' for tree models | XGBoost with dynamic scale_pos_weight based on distribution</a:t>
            </a:r>
            <a:endParaRPr lang="en-US" sz="1050"/>
          </a:p>
        </p:txBody>
      </p:sp>
      <p:sp>
        <p:nvSpPr>
          <p:cNvPr id="1611753166" name="Text 13"/>
          <p:cNvSpPr/>
          <p:nvPr/>
        </p:nvSpPr>
        <p:spPr bwMode="auto">
          <a:xfrm>
            <a:off x="381000" y="3867150"/>
            <a:ext cx="8382000" cy="876299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317437686" name="Text 14"/>
          <p:cNvSpPr/>
          <p:nvPr/>
        </p:nvSpPr>
        <p:spPr bwMode="auto">
          <a:xfrm>
            <a:off x="552450" y="403860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  <a:defRPr/>
            </a:pPr>
            <a:r>
              <a:rPr lang="en-US" sz="13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Best Model Selection</a:t>
            </a:r>
            <a:endParaRPr lang="en-US" sz="1350"/>
          </a:p>
        </p:txBody>
      </p:sp>
      <p:sp>
        <p:nvSpPr>
          <p:cNvPr id="1279280518" name="Text 15"/>
          <p:cNvSpPr/>
          <p:nvPr/>
        </p:nvSpPr>
        <p:spPr bwMode="auto">
          <a:xfrm>
            <a:off x="552450" y="43815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Automatic selection based on ROC-AUC score | Complete model metadata stored (scaler, metrics, predictions)</a:t>
            </a:r>
            <a:endParaRPr lang="en-US" sz="1050"/>
          </a:p>
        </p:txBody>
      </p:sp>
      <p:sp>
        <p:nvSpPr>
          <p:cNvPr id="35937879" name="Text 16"/>
          <p:cNvSpPr/>
          <p:nvPr/>
        </p:nvSpPr>
        <p:spPr bwMode="auto">
          <a:xfrm>
            <a:off x="377571" y="48387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All code modular and reusable | Libraries: sklearn, xgboost, lightgbm, catboost | Python 3.12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00562" name="Text 0"/>
          <p:cNvSpPr/>
          <p:nvPr/>
        </p:nvSpPr>
        <p:spPr bwMode="auto">
          <a:xfrm>
            <a:off x="381000" y="266700"/>
            <a:ext cx="54309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Project Summary &amp; Conclusions</a:t>
            </a:r>
            <a:endParaRPr lang="en-US" sz="2700"/>
          </a:p>
        </p:txBody>
      </p:sp>
      <p:pic>
        <p:nvPicPr>
          <p:cNvPr id="980106646" name="Image 0" descr="/tmp/rasterized-gradient-a0ae5b81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1000" y="952500"/>
            <a:ext cx="2641550" cy="1143000"/>
          </a:xfrm>
          <a:prstGeom prst="rect">
            <a:avLst/>
          </a:prstGeom>
        </p:spPr>
      </p:pic>
      <p:sp>
        <p:nvSpPr>
          <p:cNvPr id="355509353" name="Text 1"/>
          <p:cNvSpPr/>
          <p:nvPr/>
        </p:nvSpPr>
        <p:spPr bwMode="auto">
          <a:xfrm>
            <a:off x="895314" y="1143000"/>
            <a:ext cx="16127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600"/>
              </a:spcAft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Goal Achieved</a:t>
            </a:r>
            <a:endParaRPr lang="en-US" sz="1800"/>
          </a:p>
        </p:txBody>
      </p:sp>
      <p:sp>
        <p:nvSpPr>
          <p:cNvPr id="2109489246" name="Text 2"/>
          <p:cNvSpPr/>
          <p:nvPr/>
        </p:nvSpPr>
        <p:spPr bwMode="auto">
          <a:xfrm>
            <a:off x="526449" y="1457325"/>
            <a:ext cx="23057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Complete code available | Reproducible results | Ready for integration into business processes</a:t>
            </a:r>
            <a:endParaRPr/>
          </a:p>
        </p:txBody>
      </p:sp>
      <p:sp>
        <p:nvSpPr>
          <p:cNvPr id="469120404" name="Text 3"/>
          <p:cNvSpPr/>
          <p:nvPr/>
        </p:nvSpPr>
        <p:spPr bwMode="auto">
          <a:xfrm>
            <a:off x="3213050" y="1047750"/>
            <a:ext cx="2679650" cy="952500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651713619" name="Text 4"/>
          <p:cNvSpPr/>
          <p:nvPr/>
        </p:nvSpPr>
        <p:spPr bwMode="auto">
          <a:xfrm>
            <a:off x="3974729" y="1257300"/>
            <a:ext cx="1156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00"/>
              </a:spcAft>
              <a:buNone/>
              <a:defRPr/>
            </a:pPr>
            <a:r>
              <a:rPr lang="en-US" sz="22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985K+</a:t>
            </a:r>
            <a:endParaRPr lang="en-US" sz="2250"/>
          </a:p>
        </p:txBody>
      </p:sp>
      <p:sp>
        <p:nvSpPr>
          <p:cNvPr id="191624239" name="Text 5"/>
          <p:cNvSpPr/>
          <p:nvPr/>
        </p:nvSpPr>
        <p:spPr bwMode="auto">
          <a:xfrm>
            <a:off x="3399995" y="1638300"/>
            <a:ext cx="2305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Training samples processed</a:t>
            </a:r>
            <a:endParaRPr lang="en-US" sz="900"/>
          </a:p>
        </p:txBody>
      </p:sp>
      <p:sp>
        <p:nvSpPr>
          <p:cNvPr id="518690553" name="Text 6"/>
          <p:cNvSpPr/>
          <p:nvPr/>
        </p:nvSpPr>
        <p:spPr bwMode="auto">
          <a:xfrm>
            <a:off x="6083201" y="1047750"/>
            <a:ext cx="2679650" cy="952500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66814515" name="Text 7"/>
          <p:cNvSpPr/>
          <p:nvPr/>
        </p:nvSpPr>
        <p:spPr bwMode="auto">
          <a:xfrm>
            <a:off x="6844879" y="1257300"/>
            <a:ext cx="1156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00"/>
              </a:spcAft>
              <a:buNone/>
              <a:defRPr/>
            </a:pPr>
            <a:r>
              <a:rPr lang="en-US" sz="225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40</a:t>
            </a:r>
            <a:endParaRPr lang="en-US" sz="2250"/>
          </a:p>
        </p:txBody>
      </p:sp>
      <p:sp>
        <p:nvSpPr>
          <p:cNvPr id="1288447526" name="Text 8"/>
          <p:cNvSpPr/>
          <p:nvPr/>
        </p:nvSpPr>
        <p:spPr bwMode="auto">
          <a:xfrm>
            <a:off x="6270145" y="1638300"/>
            <a:ext cx="2305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Engineered features</a:t>
            </a:r>
            <a:endParaRPr lang="en-US" sz="900"/>
          </a:p>
        </p:txBody>
      </p:sp>
      <p:sp>
        <p:nvSpPr>
          <p:cNvPr id="96661726" name="Text 9"/>
          <p:cNvSpPr/>
          <p:nvPr/>
        </p:nvSpPr>
        <p:spPr bwMode="auto">
          <a:xfrm>
            <a:off x="381000" y="2266950"/>
            <a:ext cx="8382000" cy="129540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848109389" name="Text 11"/>
          <p:cNvSpPr/>
          <p:nvPr/>
        </p:nvSpPr>
        <p:spPr bwMode="auto">
          <a:xfrm>
            <a:off x="571500" y="2419350"/>
            <a:ext cx="8199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  <a:defRPr/>
            </a:pPr>
            <a:r>
              <a:rPr lang="en-US" sz="12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Key Accomplishments</a:t>
            </a:r>
            <a:endParaRPr lang="en-US" sz="1200"/>
          </a:p>
        </p:txBody>
      </p:sp>
      <p:sp>
        <p:nvSpPr>
          <p:cNvPr id="2139789380" name="Text 12"/>
          <p:cNvSpPr/>
          <p:nvPr/>
        </p:nvSpPr>
        <p:spPr bwMode="auto">
          <a:xfrm>
            <a:off x="571500" y="27432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Complete preprocessing pipeline | Six ML algorithms trained and evaluated</a:t>
            </a:r>
            <a:endParaRPr lang="en-US" sz="1050"/>
          </a:p>
        </p:txBody>
      </p:sp>
      <p:sp>
        <p:nvSpPr>
          <p:cNvPr id="1663231190" name="Text 13"/>
          <p:cNvSpPr/>
          <p:nvPr/>
        </p:nvSpPr>
        <p:spPr bwMode="auto">
          <a:xfrm>
            <a:off x="571500" y="2981325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Best models: Random Forest (Target1, 0.944 AUC) and XGBoost (Target2, 0.981 AUC)</a:t>
            </a:r>
            <a:endParaRPr lang="en-US" sz="1050"/>
          </a:p>
        </p:txBody>
      </p:sp>
      <p:sp>
        <p:nvSpPr>
          <p:cNvPr id="77591894" name="Text 14"/>
          <p:cNvSpPr/>
          <p:nvPr/>
        </p:nvSpPr>
        <p:spPr bwMode="auto">
          <a:xfrm>
            <a:off x="571500" y="3219449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Feature importance analysis | Test predictions with probability scores generated</a:t>
            </a:r>
            <a:endParaRPr lang="en-US" sz="1050"/>
          </a:p>
        </p:txBody>
      </p:sp>
      <p:sp>
        <p:nvSpPr>
          <p:cNvPr id="1512221328" name="Text 15"/>
          <p:cNvSpPr/>
          <p:nvPr/>
        </p:nvSpPr>
        <p:spPr bwMode="auto">
          <a:xfrm>
            <a:off x="381000" y="3676650"/>
            <a:ext cx="4133850" cy="1066800"/>
          </a:xfrm>
          <a:prstGeom prst="roundRect">
            <a:avLst>
              <a:gd name="adj" fmla="val 7143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384130516" name="Text 17"/>
          <p:cNvSpPr/>
          <p:nvPr/>
        </p:nvSpPr>
        <p:spPr bwMode="auto">
          <a:xfrm>
            <a:off x="552450" y="3810000"/>
            <a:ext cx="39056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  <a:defRPr/>
            </a:pPr>
            <a:r>
              <a:rPr lang="en-US" sz="1050" b="1">
                <a:solidFill>
                  <a:schemeClr val="tx2">
                    <a:lumMod val="75000"/>
                  </a:schemeClr>
                </a:solidFill>
                <a:latin typeface="Segoe UI"/>
                <a:ea typeface="Segoe UI"/>
                <a:cs typeface="Segoe UI"/>
              </a:rPr>
              <a:t>Business Impact</a:t>
            </a:r>
            <a:endParaRPr lang="en-US" sz="105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10111658" name="Text 18"/>
          <p:cNvSpPr/>
          <p:nvPr/>
        </p:nvSpPr>
        <p:spPr bwMode="auto">
          <a:xfrm>
            <a:off x="552450" y="4076699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Identify top 6% most likely responders for Target1</a:t>
            </a:r>
            <a:endParaRPr lang="en-US" sz="900"/>
          </a:p>
        </p:txBody>
      </p:sp>
      <p:sp>
        <p:nvSpPr>
          <p:cNvPr id="1432948482" name="Text 19"/>
          <p:cNvSpPr/>
          <p:nvPr/>
        </p:nvSpPr>
        <p:spPr bwMode="auto">
          <a:xfrm>
            <a:off x="552450" y="42672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Reduce marketing costs by targeting high-probability customers</a:t>
            </a:r>
            <a:endParaRPr lang="en-US" sz="900"/>
          </a:p>
        </p:txBody>
      </p:sp>
      <p:sp>
        <p:nvSpPr>
          <p:cNvPr id="625624240" name="Text 20"/>
          <p:cNvSpPr/>
          <p:nvPr/>
        </p:nvSpPr>
        <p:spPr bwMode="auto">
          <a:xfrm>
            <a:off x="552450" y="44577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Enable personalized communication strategies</a:t>
            </a:r>
            <a:endParaRPr lang="en-US" sz="900"/>
          </a:p>
        </p:txBody>
      </p:sp>
      <p:sp>
        <p:nvSpPr>
          <p:cNvPr id="1103769680" name="Text 21"/>
          <p:cNvSpPr/>
          <p:nvPr/>
        </p:nvSpPr>
        <p:spPr bwMode="auto">
          <a:xfrm>
            <a:off x="4629150" y="3676650"/>
            <a:ext cx="4133850" cy="1066800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39229534" name="Text 23"/>
          <p:cNvSpPr/>
          <p:nvPr/>
        </p:nvSpPr>
        <p:spPr bwMode="auto">
          <a:xfrm>
            <a:off x="4800600" y="3810000"/>
            <a:ext cx="39056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  <a:defRPr/>
            </a:pPr>
            <a:r>
              <a:rPr lang="en-US" sz="1050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Next Steps</a:t>
            </a:r>
            <a:endParaRPr lang="en-US" sz="1050"/>
          </a:p>
        </p:txBody>
      </p:sp>
      <p:sp>
        <p:nvSpPr>
          <p:cNvPr id="707900743" name="Text 24"/>
          <p:cNvSpPr/>
          <p:nvPr/>
        </p:nvSpPr>
        <p:spPr bwMode="auto">
          <a:xfrm>
            <a:off x="4800600" y="4076699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Tune probability thresholds based on business objectives</a:t>
            </a:r>
            <a:endParaRPr lang="en-US" sz="900"/>
          </a:p>
        </p:txBody>
      </p:sp>
      <p:sp>
        <p:nvSpPr>
          <p:cNvPr id="231116667" name="Text 25"/>
          <p:cNvSpPr/>
          <p:nvPr/>
        </p:nvSpPr>
        <p:spPr bwMode="auto">
          <a:xfrm>
            <a:off x="4800600" y="42672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Implement A/B testing for model validation</a:t>
            </a:r>
            <a:endParaRPr lang="en-US" sz="900"/>
          </a:p>
        </p:txBody>
      </p:sp>
      <p:sp>
        <p:nvSpPr>
          <p:cNvPr id="319581584" name="Text 26"/>
          <p:cNvSpPr/>
          <p:nvPr/>
        </p:nvSpPr>
        <p:spPr bwMode="auto">
          <a:xfrm>
            <a:off x="4800600" y="44577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Set up monitoring pipeline for model drift detection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824426" name="TextBox 1"/>
          <p:cNvSpPr txBox="1"/>
          <p:nvPr/>
        </p:nvSpPr>
        <p:spPr bwMode="auto">
          <a:xfrm>
            <a:off x="238125" y="285750"/>
            <a:ext cx="852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/>
              <a:t>Apendix</a:t>
            </a:r>
            <a:endParaRPr lang="ru-RU" sz="2800"/>
          </a:p>
        </p:txBody>
      </p:sp>
      <p:pic>
        <p:nvPicPr>
          <p:cNvPr id="1384442005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939271"/>
            <a:ext cx="9144000" cy="3264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1408640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0786" y="0"/>
            <a:ext cx="8662428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9937791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665588" y="0"/>
            <a:ext cx="5812824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4193016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7310" y="0"/>
            <a:ext cx="866938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4751714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8478" y="0"/>
            <a:ext cx="6967044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6719532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1431" y="354325"/>
            <a:ext cx="8961138" cy="4434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12183" name="TextBox 1"/>
          <p:cNvSpPr txBox="1"/>
          <p:nvPr/>
        </p:nvSpPr>
        <p:spPr bwMode="auto">
          <a:xfrm>
            <a:off x="1176337" y="2110085"/>
            <a:ext cx="6791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5400"/>
              <a:t>Thank You!</a:t>
            </a:r>
            <a:endParaRPr lang="ru-RU" sz="5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List Selection Automation</dc:title>
  <dc:subject>Machine Learning for Marketing</dc:subject>
  <dc:creator>Bank Marketing Team</dc:creator>
  <cp:lastModifiedBy/>
  <cp:revision>7</cp:revision>
  <dcterms:created xsi:type="dcterms:W3CDTF">2025-12-18T17:28:32Z</dcterms:created>
  <dcterms:modified xsi:type="dcterms:W3CDTF">2025-12-26T20:33:23Z</dcterms:modified>
</cp:coreProperties>
</file>